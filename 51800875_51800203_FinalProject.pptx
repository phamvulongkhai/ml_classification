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66" r:id="rId3"/>
    <p:sldId id="267" r:id="rId4"/>
    <p:sldId id="258" r:id="rId5"/>
    <p:sldId id="269" r:id="rId6"/>
    <p:sldId id="259" r:id="rId7"/>
    <p:sldId id="270" r:id="rId8"/>
    <p:sldId id="26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63" r:id="rId20"/>
    <p:sldId id="265" r:id="rId21"/>
    <p:sldId id="281" r:id="rId22"/>
    <p:sldId id="282" r:id="rId23"/>
    <p:sldId id="283" r:id="rId24"/>
    <p:sldId id="284" r:id="rId25"/>
    <p:sldId id="285" r:id="rId26"/>
    <p:sldId id="261" r:id="rId27"/>
    <p:sldId id="262" r:id="rId28"/>
    <p:sldId id="287" r:id="rId29"/>
    <p:sldId id="286" r:id="rId30"/>
    <p:sldId id="288" r:id="rId31"/>
    <p:sldId id="264" r:id="rId32"/>
    <p:sldId id="289" r:id="rId33"/>
    <p:sldId id="290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64B11-4705-49EC-BD32-3C5DEDDB3787}" type="datetimeFigureOut">
              <a:rPr lang="en-US" smtClean="0"/>
              <a:t>11/22/2020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F53B4-F835-43E3-891B-A795929B17C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717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64B11-4705-49EC-BD32-3C5DEDDB3787}" type="datetimeFigureOut">
              <a:rPr lang="en-US" smtClean="0"/>
              <a:t>11/22/2020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F53B4-F835-43E3-891B-A795929B1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60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64B11-4705-49EC-BD32-3C5DEDDB3787}" type="datetimeFigureOut">
              <a:rPr lang="en-US" smtClean="0"/>
              <a:t>11/22/2020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F53B4-F835-43E3-891B-A795929B17C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579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64B11-4705-49EC-BD32-3C5DEDDB3787}" type="datetimeFigureOut">
              <a:rPr lang="en-US" smtClean="0"/>
              <a:t>11/22/2020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F53B4-F835-43E3-891B-A795929B1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41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64B11-4705-49EC-BD32-3C5DEDDB3787}" type="datetimeFigureOut">
              <a:rPr lang="en-US" smtClean="0"/>
              <a:t>11/22/2020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F53B4-F835-43E3-891B-A795929B1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64B11-4705-49EC-BD32-3C5DEDDB3787}" type="datetimeFigureOut">
              <a:rPr lang="en-US" smtClean="0"/>
              <a:t>11/22/2020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F53B4-F835-43E3-891B-A795929B1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34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64B11-4705-49EC-BD32-3C5DEDDB3787}" type="datetimeFigureOut">
              <a:rPr lang="en-US" smtClean="0"/>
              <a:t>11/22/2020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F53B4-F835-43E3-891B-A795929B1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632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564B11-4705-49EC-BD32-3C5DEDDB3787}" type="datetimeFigureOut">
              <a:rPr lang="en-US" smtClean="0"/>
              <a:t>11/22/2020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F53B4-F835-43E3-891B-A795929B1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75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64B11-4705-49EC-BD32-3C5DEDDB3787}" type="datetimeFigureOut">
              <a:rPr lang="en-US" smtClean="0"/>
              <a:t>11/22/2020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F53B4-F835-43E3-891B-A795929B1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543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64B11-4705-49EC-BD32-3C5DEDDB3787}" type="datetimeFigureOut">
              <a:rPr lang="en-US" smtClean="0"/>
              <a:t>11/22/2020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F53B4-F835-43E3-891B-A795929B1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8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64B11-4705-49EC-BD32-3C5DEDDB3787}" type="datetimeFigureOut">
              <a:rPr lang="en-US" smtClean="0"/>
              <a:t>11/22/2020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F53B4-F835-43E3-891B-A795929B1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39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564B11-4705-49EC-BD32-3C5DEDDB3787}" type="datetimeFigureOut">
              <a:rPr lang="en-US" smtClean="0"/>
              <a:t>11/22/2020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E2F53B4-F835-43E3-891B-A795929B17C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6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rchive.ics.uci.edu/ml/datasets/statlog+(german+credit+data)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8D80-23B5-4354-8E66-DEDEABD55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4390"/>
            <a:ext cx="9144000" cy="2387600"/>
          </a:xfrm>
        </p:spPr>
        <p:txBody>
          <a:bodyPr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4000" kern="1400" spc="-50" dirty="0">
                <a:effectLst/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DỰ ÁN CUỐI KÌ</a:t>
            </a:r>
            <a:r>
              <a:rPr lang="en-US" sz="3200" kern="1400" spc="-50" dirty="0"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sz="3200" kern="1400" spc="-50" dirty="0"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en-US" sz="30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Môn</a:t>
            </a:r>
            <a:r>
              <a:rPr lang="en-US" sz="3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: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Nhập</a:t>
            </a:r>
            <a:r>
              <a:rPr lang="en-US" sz="3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Môn</a:t>
            </a:r>
            <a:r>
              <a:rPr lang="en-US" sz="3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Học</a:t>
            </a:r>
            <a:r>
              <a:rPr lang="en-US" sz="30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Máy</a:t>
            </a:r>
            <a:r>
              <a:rPr lang="en-US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8EBED-C76B-483B-A7ED-A1776BA75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83180"/>
            <a:ext cx="9144000" cy="3543299"/>
          </a:xfrm>
        </p:spPr>
        <p:txBody>
          <a:bodyPr>
            <a:normAutofit lnSpcReduction="10000"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Trình</a:t>
            </a:r>
            <a:r>
              <a:rPr lang="en-US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bày</a:t>
            </a:r>
            <a:r>
              <a:rPr lang="en-US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các</a:t>
            </a:r>
            <a:r>
              <a:rPr lang="en-US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các</a:t>
            </a:r>
            <a:r>
              <a:rPr lang="en-US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vấn</a:t>
            </a:r>
            <a:r>
              <a:rPr lang="en-US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đề</a:t>
            </a:r>
            <a:r>
              <a:rPr lang="en-US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của</a:t>
            </a:r>
            <a:r>
              <a:rPr lang="en-US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machine learning </a:t>
            </a: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thông</a:t>
            </a:r>
            <a:r>
              <a:rPr lang="en-US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qua </a:t>
            </a: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xây</a:t>
            </a:r>
            <a:r>
              <a:rPr lang="en-US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dựng</a:t>
            </a:r>
            <a:r>
              <a:rPr lang="en-US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mô</a:t>
            </a:r>
            <a:r>
              <a:rPr lang="en-US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hình</a:t>
            </a:r>
            <a:r>
              <a:rPr lang="en-US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học</a:t>
            </a:r>
            <a:r>
              <a:rPr lang="en-US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máy</a:t>
            </a:r>
            <a:r>
              <a:rPr lang="en-US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cho</a:t>
            </a:r>
            <a:r>
              <a:rPr lang="en-US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bài</a:t>
            </a:r>
            <a:r>
              <a:rPr lang="en-US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toán</a:t>
            </a:r>
            <a:r>
              <a:rPr lang="en-US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phân</a:t>
            </a:r>
            <a:r>
              <a:rPr lang="en-US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loại</a:t>
            </a:r>
            <a:r>
              <a:rPr lang="en-US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0" marR="0" algn="r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endParaRPr lang="en-US" sz="1800" i="1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r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endParaRPr lang="en-US" sz="1800" i="1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  <a:spcBef>
                <a:spcPts val="0"/>
              </a:spcBef>
            </a:pPr>
            <a:r>
              <a:rPr lang="en-US" sz="1800" i="1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Người</a:t>
            </a:r>
            <a:r>
              <a:rPr lang="en-US" sz="1800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h</a:t>
            </a:r>
            <a:r>
              <a:rPr lang="vi-VN" sz="1800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ướng dẫn</a:t>
            </a:r>
            <a:r>
              <a:rPr lang="vi-VN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dirty="0"/>
              <a:t>PGS-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 smtClean="0"/>
              <a:t>sỹ</a:t>
            </a:r>
            <a:r>
              <a:rPr lang="en-US" dirty="0" smtClean="0"/>
              <a:t>-GV</a:t>
            </a:r>
            <a:r>
              <a:rPr lang="vi-VN" sz="1800" b="1" dirty="0" smtClean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18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Lê Anh Cường</a:t>
            </a: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r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vi-VN" sz="1800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Người thực hiện</a:t>
            </a:r>
            <a:r>
              <a:rPr lang="vi-VN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vi-VN" sz="18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TĂNG BẢO KIÊN – 51800203</a:t>
            </a: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r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PHẠM VŨ LONG KHẢI – 51800875</a:t>
            </a: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2D6119-203F-4BD5-8096-BE7F238521A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6452" y="68580"/>
            <a:ext cx="1815548" cy="1084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9995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39F00EC-4413-44AD-AF28-1AD0F80B6788}"/>
              </a:ext>
            </a:extLst>
          </p:cNvPr>
          <p:cNvSpPr txBox="1"/>
          <p:nvPr/>
        </p:nvSpPr>
        <p:spPr>
          <a:xfrm>
            <a:off x="1113183" y="660176"/>
            <a:ext cx="6679094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lấy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UCI: </a:t>
            </a:r>
            <a:r>
              <a:rPr lang="en-US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https://archive.ics.uci.edu/ml/datasets/statlog+(german+credit+data)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DF6EA3-08AB-4DB7-AAD2-1FE152563D50}"/>
              </a:ext>
            </a:extLst>
          </p:cNvPr>
          <p:cNvSpPr txBox="1"/>
          <p:nvPr/>
        </p:nvSpPr>
        <p:spPr>
          <a:xfrm>
            <a:off x="1113183" y="1891310"/>
            <a:ext cx="9051234" cy="1959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Giới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classifies people described by a set of attributes as good or bad credit risks. Comes in two formats (one all numeric). Also comes with a cost matrix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tệp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german.doc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kèm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BEB87B-E481-404F-ADDC-44909D7E1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173" y="3801064"/>
            <a:ext cx="7580038" cy="163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2813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C2DD960-0DFE-42ED-BBD9-B5688E2EB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383" y="1936474"/>
            <a:ext cx="6662945" cy="344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9D6538-1E5D-41F4-8982-57625CA28062}"/>
              </a:ext>
            </a:extLst>
          </p:cNvPr>
          <p:cNvSpPr txBox="1"/>
          <p:nvPr/>
        </p:nvSpPr>
        <p:spPr>
          <a:xfrm>
            <a:off x="1113183" y="1021340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Giới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1243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2D6119-203F-4BD5-8096-BE7F238521A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460" y="68580"/>
            <a:ext cx="1762539" cy="92533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857B438-EA0E-4745-8B6D-C4B53054F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375" y="584200"/>
            <a:ext cx="7451946" cy="819426"/>
          </a:xfrm>
        </p:spPr>
        <p:txBody>
          <a:bodyPr>
            <a:normAutofit/>
          </a:bodyPr>
          <a:lstStyle/>
          <a:p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Yêu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cầu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1: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Chuẩn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hoá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dữ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liệu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chọn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bài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toán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dữ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liệu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kiểu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numeric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categorial (nominal)</a:t>
            </a:r>
            <a:endParaRPr lang="en-US" sz="7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FDEC1B-38AE-4814-9946-6AA7966BFFF4}"/>
              </a:ext>
            </a:extLst>
          </p:cNvPr>
          <p:cNvSpPr txBox="1"/>
          <p:nvPr/>
        </p:nvSpPr>
        <p:spPr>
          <a:xfrm>
            <a:off x="1311965" y="1906104"/>
            <a:ext cx="9117495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Xử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trọng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việc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quyết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vấn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Machine Learning.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hầu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hết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bài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toán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xử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tiền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xử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Machine Learning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huấn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luyện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biển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xử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-"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kỹ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thuật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tiền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phổ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missing data, encoding categorical variables, standardizing data, scaling data.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438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2D6119-203F-4BD5-8096-BE7F238521A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460" y="68580"/>
            <a:ext cx="1762539" cy="92533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857B438-EA0E-4745-8B6D-C4B53054F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123" y="584200"/>
            <a:ext cx="7451946" cy="819426"/>
          </a:xfrm>
        </p:spPr>
        <p:txBody>
          <a:bodyPr>
            <a:normAutofit/>
          </a:bodyPr>
          <a:lstStyle/>
          <a:p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Yêu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cầu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1: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Chuẩn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hoá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dữ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liệu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chọn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bài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toán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dữ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liệu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kiểu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numeric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categorial (nominal)</a:t>
            </a:r>
            <a:endParaRPr lang="en-US" sz="7200" dirty="0"/>
          </a:p>
        </p:txBody>
      </p:sp>
      <p:pic>
        <p:nvPicPr>
          <p:cNvPr id="3080" name="Picture 8" descr="Không có mô tả.">
            <a:extLst>
              <a:ext uri="{FF2B5EF4-FFF2-40B4-BE49-F238E27FC236}">
                <a16:creationId xmlns:a16="http://schemas.microsoft.com/office/drawing/2014/main" id="{C66D1944-4EC9-475A-954E-6018D2370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989" y="1563755"/>
            <a:ext cx="8076819" cy="361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02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8D80-23B5-4354-8E66-DEDEABD55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0" y="834390"/>
            <a:ext cx="9144000" cy="1360805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</a:rPr>
              <a:t>Yêu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cầu</a:t>
            </a:r>
            <a:r>
              <a:rPr lang="en-US" sz="2400" dirty="0">
                <a:latin typeface="Times New Roman" panose="02020603050405020304" pitchFamily="18" charset="0"/>
              </a:rPr>
              <a:t> 2: </a:t>
            </a:r>
            <a:r>
              <a:rPr lang="en-US" sz="2400" dirty="0" err="1">
                <a:latin typeface="Times New Roman" panose="02020603050405020304" pitchFamily="18" charset="0"/>
              </a:rPr>
              <a:t>Xử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lý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cân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bằng</a:t>
            </a:r>
            <a:r>
              <a:rPr lang="en-US" sz="2400" dirty="0">
                <a:latin typeface="Times New Roman" panose="02020603050405020304" pitchFamily="18" charset="0"/>
              </a:rPr>
              <a:t> (unbalanced), </a:t>
            </a:r>
            <a:r>
              <a:rPr lang="en-US" sz="2400" dirty="0" err="1">
                <a:latin typeface="Times New Roman" panose="02020603050405020304" pitchFamily="18" charset="0"/>
              </a:rPr>
              <a:t>tức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</a:rPr>
              <a:t>nhãn</a:t>
            </a:r>
            <a:r>
              <a:rPr lang="en-US" sz="2400" dirty="0">
                <a:latin typeface="Times New Roman" panose="02020603050405020304" pitchFamily="18" charset="0"/>
              </a:rPr>
              <a:t>) </a:t>
            </a:r>
            <a:r>
              <a:rPr lang="en-US" sz="2400" dirty="0" err="1">
                <a:latin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ít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ví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dụ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huấn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luyện</a:t>
            </a:r>
            <a:r>
              <a:rPr lang="en-US" sz="2400" dirty="0">
                <a:latin typeface="Times New Roman" panose="02020603050405020304" pitchFamily="18" charset="0"/>
              </a:rPr>
              <a:t> so </a:t>
            </a:r>
            <a:r>
              <a:rPr lang="en-US" sz="2400" dirty="0" err="1">
                <a:latin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nhãn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khác</a:t>
            </a:r>
            <a:r>
              <a:rPr lang="en-US" sz="2400" dirty="0">
                <a:latin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2D6119-203F-4BD5-8096-BE7F238521A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0" y="68580"/>
            <a:ext cx="2476500" cy="15316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5D5EA2-7D35-4C4D-A5D4-06AF4E6BE8FB}"/>
              </a:ext>
            </a:extLst>
          </p:cNvPr>
          <p:cNvSpPr txBox="1"/>
          <p:nvPr/>
        </p:nvSpPr>
        <p:spPr>
          <a:xfrm>
            <a:off x="571500" y="1811980"/>
            <a:ext cx="11105903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tượng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phổ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bài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Classification.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tỉ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lệ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giữa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 class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50:50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gọi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60:40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gọi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nhiên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dễ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đạt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Vì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vậy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tỉ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tệ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thấp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chấp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nhiên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nghiêm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trọng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chẳng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tỷ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lệ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90:10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ảnh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hưởng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Vì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vậy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-"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quyết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mất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metric, Under sampling, Over sampling (Naive random over-sampling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SMOTE &amp; ADASYN),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thập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thêm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thập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thêm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561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Không có mô tả.">
            <a:extLst>
              <a:ext uri="{FF2B5EF4-FFF2-40B4-BE49-F238E27FC236}">
                <a16:creationId xmlns:a16="http://schemas.microsoft.com/office/drawing/2014/main" id="{494A2847-9F18-46CD-A06F-F06D76476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18" y="1537252"/>
            <a:ext cx="9514212" cy="4346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3CD86B-AA38-42F9-B3A1-4E14E8C924C0}"/>
              </a:ext>
            </a:extLst>
          </p:cNvPr>
          <p:cNvSpPr txBox="1">
            <a:spLocks/>
          </p:cNvSpPr>
          <p:nvPr/>
        </p:nvSpPr>
        <p:spPr>
          <a:xfrm>
            <a:off x="584752" y="635607"/>
            <a:ext cx="9144000" cy="1360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latin typeface="Times New Roman" panose="02020603050405020304" pitchFamily="18" charset="0"/>
              </a:rPr>
              <a:t>Yêu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cầu</a:t>
            </a:r>
            <a:r>
              <a:rPr lang="en-US" sz="2400" dirty="0">
                <a:latin typeface="Times New Roman" panose="02020603050405020304" pitchFamily="18" charset="0"/>
              </a:rPr>
              <a:t> 2: </a:t>
            </a:r>
            <a:r>
              <a:rPr lang="en-US" sz="2400" dirty="0" err="1">
                <a:latin typeface="Times New Roman" panose="02020603050405020304" pitchFamily="18" charset="0"/>
              </a:rPr>
              <a:t>Xử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lý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cân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bằng</a:t>
            </a:r>
            <a:r>
              <a:rPr lang="en-US" sz="2400" dirty="0">
                <a:latin typeface="Times New Roman" panose="02020603050405020304" pitchFamily="18" charset="0"/>
              </a:rPr>
              <a:t> (unbalanced), </a:t>
            </a:r>
            <a:r>
              <a:rPr lang="en-US" sz="2400" dirty="0" err="1">
                <a:latin typeface="Times New Roman" panose="02020603050405020304" pitchFamily="18" charset="0"/>
              </a:rPr>
              <a:t>tức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</a:rPr>
              <a:t>nhãn</a:t>
            </a:r>
            <a:r>
              <a:rPr lang="en-US" sz="2400" dirty="0">
                <a:latin typeface="Times New Roman" panose="02020603050405020304" pitchFamily="18" charset="0"/>
              </a:rPr>
              <a:t>) </a:t>
            </a:r>
            <a:r>
              <a:rPr lang="en-US" sz="2400" dirty="0" err="1">
                <a:latin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ít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ví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dụ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huấn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luyện</a:t>
            </a:r>
            <a:r>
              <a:rPr lang="en-US" sz="2400" dirty="0">
                <a:latin typeface="Times New Roman" panose="02020603050405020304" pitchFamily="18" charset="0"/>
              </a:rPr>
              <a:t> so </a:t>
            </a:r>
            <a:r>
              <a:rPr lang="en-US" sz="2400" dirty="0" err="1">
                <a:latin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nhãn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</a:rPr>
              <a:t>khác</a:t>
            </a:r>
            <a:r>
              <a:rPr lang="en-US" sz="2400" dirty="0">
                <a:latin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8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2D6119-203F-4BD5-8096-BE7F238521A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0" y="68580"/>
            <a:ext cx="2476500" cy="153162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D9BA37-DE94-4332-8773-9F4B3CFB69A9}"/>
              </a:ext>
            </a:extLst>
          </p:cNvPr>
          <p:cNvSpPr txBox="1"/>
          <p:nvPr/>
        </p:nvSpPr>
        <p:spPr>
          <a:xfrm>
            <a:off x="768626" y="466235"/>
            <a:ext cx="7938052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3: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Vẽ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biểu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đồ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thể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hiện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thông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tin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thống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kê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dữ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liệu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số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lượng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theo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từng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nhãn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(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loại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).</a:t>
            </a:r>
          </a:p>
        </p:txBody>
      </p:sp>
      <p:pic>
        <p:nvPicPr>
          <p:cNvPr id="5122" name="Picture 2" descr="Không có mô tả.">
            <a:extLst>
              <a:ext uri="{FF2B5EF4-FFF2-40B4-BE49-F238E27FC236}">
                <a16:creationId xmlns:a16="http://schemas.microsoft.com/office/drawing/2014/main" id="{BD38E96F-BD43-48A0-AEBE-6881C053A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072" y="2436564"/>
            <a:ext cx="10180637" cy="1707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150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Không có mô tả.">
            <a:extLst>
              <a:ext uri="{FF2B5EF4-FFF2-40B4-BE49-F238E27FC236}">
                <a16:creationId xmlns:a16="http://schemas.microsoft.com/office/drawing/2014/main" id="{24309BA1-0FFE-4A58-970A-DB7E21BE1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722" y="1879117"/>
            <a:ext cx="4320208" cy="26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65A3E8-19E2-4A9F-BB5D-A0BCFA2A63D9}"/>
              </a:ext>
            </a:extLst>
          </p:cNvPr>
          <p:cNvSpPr txBox="1"/>
          <p:nvPr/>
        </p:nvSpPr>
        <p:spPr>
          <a:xfrm>
            <a:off x="768626" y="479487"/>
            <a:ext cx="7938052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3: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Vẽ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biểu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đồ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thể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hiện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thông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tin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thống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kê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dữ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liệu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số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lượng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theo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từng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nhãn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(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loại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).</a:t>
            </a:r>
          </a:p>
        </p:txBody>
      </p:sp>
      <p:pic>
        <p:nvPicPr>
          <p:cNvPr id="6150" name="Picture 6" descr="Không có mô tả.">
            <a:extLst>
              <a:ext uri="{FF2B5EF4-FFF2-40B4-BE49-F238E27FC236}">
                <a16:creationId xmlns:a16="http://schemas.microsoft.com/office/drawing/2014/main" id="{2B45A027-A17C-4E83-82CD-859BA44BA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931" y="1879117"/>
            <a:ext cx="3750366" cy="269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972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Không có mô tả.">
            <a:extLst>
              <a:ext uri="{FF2B5EF4-FFF2-40B4-BE49-F238E27FC236}">
                <a16:creationId xmlns:a16="http://schemas.microsoft.com/office/drawing/2014/main" id="{9B0B30C5-A025-4EB0-86D5-2DF230130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026" y="1799191"/>
            <a:ext cx="4329940" cy="3054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Không có mô tả.">
            <a:extLst>
              <a:ext uri="{FF2B5EF4-FFF2-40B4-BE49-F238E27FC236}">
                <a16:creationId xmlns:a16="http://schemas.microsoft.com/office/drawing/2014/main" id="{8AAADFFF-1F87-46A3-B8A2-6CB92B74B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08401"/>
            <a:ext cx="4002157" cy="274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500FBB-817C-4855-B6BC-B9468F258E58}"/>
              </a:ext>
            </a:extLst>
          </p:cNvPr>
          <p:cNvSpPr txBox="1"/>
          <p:nvPr/>
        </p:nvSpPr>
        <p:spPr>
          <a:xfrm>
            <a:off x="768626" y="492739"/>
            <a:ext cx="7938052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3: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Vẽ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biểu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đồ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thể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hiện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thông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tin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thống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kê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dữ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liệu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số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lượng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theo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từng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nhãn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(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loại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63177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Không có mô tả.">
            <a:extLst>
              <a:ext uri="{FF2B5EF4-FFF2-40B4-BE49-F238E27FC236}">
                <a16:creationId xmlns:a16="http://schemas.microsoft.com/office/drawing/2014/main" id="{BB81AE97-1BF9-415A-8127-B2022A3E6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583" y="1973391"/>
            <a:ext cx="4371147" cy="2911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Không có mô tả.">
            <a:extLst>
              <a:ext uri="{FF2B5EF4-FFF2-40B4-BE49-F238E27FC236}">
                <a16:creationId xmlns:a16="http://schemas.microsoft.com/office/drawing/2014/main" id="{F20278F7-9F4F-4D3C-93BB-CEB3DB7AD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791" y="1973391"/>
            <a:ext cx="3903414" cy="2752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1DD1C0-D3B7-4B45-A2AE-E53CEF65E5A7}"/>
              </a:ext>
            </a:extLst>
          </p:cNvPr>
          <p:cNvSpPr txBox="1"/>
          <p:nvPr/>
        </p:nvSpPr>
        <p:spPr>
          <a:xfrm>
            <a:off x="768626" y="466235"/>
            <a:ext cx="7938052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3: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Vẽ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biểu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đồ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thể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hiện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thông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tin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thống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kê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dữ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liệu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số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lượng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theo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từng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nhãn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(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loại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6594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Không có mô tả.">
            <a:extLst>
              <a:ext uri="{FF2B5EF4-FFF2-40B4-BE49-F238E27FC236}">
                <a16:creationId xmlns:a16="http://schemas.microsoft.com/office/drawing/2014/main" id="{5BF69DAA-4384-4041-A063-49DD2EE6C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604" y="2076036"/>
            <a:ext cx="3830864" cy="270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Không có mô tả.">
            <a:extLst>
              <a:ext uri="{FF2B5EF4-FFF2-40B4-BE49-F238E27FC236}">
                <a16:creationId xmlns:a16="http://schemas.microsoft.com/office/drawing/2014/main" id="{2F74B84B-8EDD-4DB0-ADA6-255D5F089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955" y="1997424"/>
            <a:ext cx="3830864" cy="286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4C68D2-89A6-4B03-8B69-D5A6B9D40356}"/>
              </a:ext>
            </a:extLst>
          </p:cNvPr>
          <p:cNvSpPr txBox="1"/>
          <p:nvPr/>
        </p:nvSpPr>
        <p:spPr>
          <a:xfrm>
            <a:off x="768626" y="466235"/>
            <a:ext cx="7938052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3: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Vẽ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biểu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đồ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thể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hiện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thông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tin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thống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kê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dữ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liệu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số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lượng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theo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từng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nhãn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(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loại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939951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Không có mô tả.">
            <a:extLst>
              <a:ext uri="{FF2B5EF4-FFF2-40B4-BE49-F238E27FC236}">
                <a16:creationId xmlns:a16="http://schemas.microsoft.com/office/drawing/2014/main" id="{3D825AF4-71DB-4DD1-BB3D-B78FDA4F6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118" y="1959873"/>
            <a:ext cx="3770977" cy="2744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Không có mô tả.">
            <a:extLst>
              <a:ext uri="{FF2B5EF4-FFF2-40B4-BE49-F238E27FC236}">
                <a16:creationId xmlns:a16="http://schemas.microsoft.com/office/drawing/2014/main" id="{7682E27C-BD84-411B-A394-990D5B11A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22228"/>
            <a:ext cx="4028661" cy="288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E56006-11FF-4D4B-9BDB-9ED1DD116291}"/>
              </a:ext>
            </a:extLst>
          </p:cNvPr>
          <p:cNvSpPr txBox="1"/>
          <p:nvPr/>
        </p:nvSpPr>
        <p:spPr>
          <a:xfrm>
            <a:off x="768626" y="466235"/>
            <a:ext cx="7938052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3: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Vẽ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biểu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đồ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thể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hiện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thông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tin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thống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kê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dữ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liệu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số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lượng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theo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từng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nhãn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(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loại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106636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Không có mô tả.">
            <a:extLst>
              <a:ext uri="{FF2B5EF4-FFF2-40B4-BE49-F238E27FC236}">
                <a16:creationId xmlns:a16="http://schemas.microsoft.com/office/drawing/2014/main" id="{5993E79A-4E41-4796-AB20-5D8AAEE6D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899" y="2134063"/>
            <a:ext cx="3642484" cy="2589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Không có mô tả.">
            <a:extLst>
              <a:ext uri="{FF2B5EF4-FFF2-40B4-BE49-F238E27FC236}">
                <a16:creationId xmlns:a16="http://schemas.microsoft.com/office/drawing/2014/main" id="{3D814FFC-377A-4DA0-8A60-00D69123C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441" y="2105609"/>
            <a:ext cx="3869221" cy="2618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1A46B6-BDCB-4A6E-BED9-4CB34D805825}"/>
              </a:ext>
            </a:extLst>
          </p:cNvPr>
          <p:cNvSpPr txBox="1"/>
          <p:nvPr/>
        </p:nvSpPr>
        <p:spPr>
          <a:xfrm>
            <a:off x="768626" y="466235"/>
            <a:ext cx="7938052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3: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Vẽ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biểu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đồ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thể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hiện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thông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tin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thống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kê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dữ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liệu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số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lượng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theo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từng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nhãn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(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loại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0046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Không có mô tả.">
            <a:extLst>
              <a:ext uri="{FF2B5EF4-FFF2-40B4-BE49-F238E27FC236}">
                <a16:creationId xmlns:a16="http://schemas.microsoft.com/office/drawing/2014/main" id="{DCF3060C-63C8-482E-B7CE-093BEBD1C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072" y="2016631"/>
            <a:ext cx="3975859" cy="282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Không có mô tả.">
            <a:extLst>
              <a:ext uri="{FF2B5EF4-FFF2-40B4-BE49-F238E27FC236}">
                <a16:creationId xmlns:a16="http://schemas.microsoft.com/office/drawing/2014/main" id="{91A9E36E-C95E-47D0-98BE-94437B030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028" y="2016631"/>
            <a:ext cx="4052886" cy="282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9F4E9A-A90C-4030-83CF-BAAB4C310C12}"/>
              </a:ext>
            </a:extLst>
          </p:cNvPr>
          <p:cNvSpPr txBox="1"/>
          <p:nvPr/>
        </p:nvSpPr>
        <p:spPr>
          <a:xfrm>
            <a:off x="768626" y="466235"/>
            <a:ext cx="7938052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3: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Vẽ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biểu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đồ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thể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hiện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thông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tin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thống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kê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dữ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liệu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số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lượng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theo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từng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nhãn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(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loại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0639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Không có mô tả.">
            <a:extLst>
              <a:ext uri="{FF2B5EF4-FFF2-40B4-BE49-F238E27FC236}">
                <a16:creationId xmlns:a16="http://schemas.microsoft.com/office/drawing/2014/main" id="{16FAF3DA-A8D1-477A-9A2D-1AF0D24CC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019" y="1907898"/>
            <a:ext cx="3808577" cy="270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Không có mô tả.">
            <a:extLst>
              <a:ext uri="{FF2B5EF4-FFF2-40B4-BE49-F238E27FC236}">
                <a16:creationId xmlns:a16="http://schemas.microsoft.com/office/drawing/2014/main" id="{C5354EFF-9F61-43A2-8875-F4EF73F54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245" y="1938799"/>
            <a:ext cx="3808578" cy="2672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99025A-250E-4591-9391-7F6DF592F5AF}"/>
              </a:ext>
            </a:extLst>
          </p:cNvPr>
          <p:cNvSpPr txBox="1"/>
          <p:nvPr/>
        </p:nvSpPr>
        <p:spPr>
          <a:xfrm>
            <a:off x="768626" y="466235"/>
            <a:ext cx="7938052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3: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Vẽ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biểu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đồ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thể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hiện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thông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tin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thống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kê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dữ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liệu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số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lượng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theo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từng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nhãn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(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loại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21743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Không có mô tả.">
            <a:extLst>
              <a:ext uri="{FF2B5EF4-FFF2-40B4-BE49-F238E27FC236}">
                <a16:creationId xmlns:a16="http://schemas.microsoft.com/office/drawing/2014/main" id="{EA17EF51-63E2-4B88-B29A-C004AA5C2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561" y="1996317"/>
            <a:ext cx="3768154" cy="260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Không có mô tả.">
            <a:extLst>
              <a:ext uri="{FF2B5EF4-FFF2-40B4-BE49-F238E27FC236}">
                <a16:creationId xmlns:a16="http://schemas.microsoft.com/office/drawing/2014/main" id="{EE1B0A48-D6DA-489C-87D6-854A1467D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25816"/>
            <a:ext cx="3630267" cy="2572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5834A9-0EFC-4EBC-B621-E1ECA0E59D32}"/>
              </a:ext>
            </a:extLst>
          </p:cNvPr>
          <p:cNvSpPr txBox="1"/>
          <p:nvPr/>
        </p:nvSpPr>
        <p:spPr>
          <a:xfrm>
            <a:off x="768626" y="466235"/>
            <a:ext cx="7938052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3: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Vẽ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biểu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đồ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thể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hiện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thông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tin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thống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kê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dữ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liệu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số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lượng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theo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từng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nhãn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(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loại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45439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Không có mô tả.">
            <a:extLst>
              <a:ext uri="{FF2B5EF4-FFF2-40B4-BE49-F238E27FC236}">
                <a16:creationId xmlns:a16="http://schemas.microsoft.com/office/drawing/2014/main" id="{28BDB2C0-4507-41B7-86BC-6BDCADFAB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130" y="1809750"/>
            <a:ext cx="2831409" cy="1980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Không có mô tả.">
            <a:extLst>
              <a:ext uri="{FF2B5EF4-FFF2-40B4-BE49-F238E27FC236}">
                <a16:creationId xmlns:a16="http://schemas.microsoft.com/office/drawing/2014/main" id="{DE4C93D1-06E6-4970-8842-19AF86757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218" y="1824315"/>
            <a:ext cx="2831409" cy="196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CFB67B-288B-4EA4-9B06-F6176392648D}"/>
              </a:ext>
            </a:extLst>
          </p:cNvPr>
          <p:cNvSpPr txBox="1"/>
          <p:nvPr/>
        </p:nvSpPr>
        <p:spPr>
          <a:xfrm>
            <a:off x="768626" y="466235"/>
            <a:ext cx="7938052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3: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Vẽ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biểu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đồ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thể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hiện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thông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tin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thống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kê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dữ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liệu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số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lượng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theo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từng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nhãn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(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loại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).</a:t>
            </a:r>
          </a:p>
        </p:txBody>
      </p:sp>
      <p:pic>
        <p:nvPicPr>
          <p:cNvPr id="14344" name="Picture 8" descr="Không có mô tả.">
            <a:extLst>
              <a:ext uri="{FF2B5EF4-FFF2-40B4-BE49-F238E27FC236}">
                <a16:creationId xmlns:a16="http://schemas.microsoft.com/office/drawing/2014/main" id="{30E676AF-9CC2-4D57-ADCD-22802E3E7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385" y="3790571"/>
            <a:ext cx="2947987" cy="2113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104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2D6119-203F-4BD5-8096-BE7F238521A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0" y="68580"/>
            <a:ext cx="2476500" cy="153162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D9BA37-DE94-4332-8773-9F4B3CFB69A9}"/>
              </a:ext>
            </a:extLst>
          </p:cNvPr>
          <p:cNvSpPr txBox="1"/>
          <p:nvPr/>
        </p:nvSpPr>
        <p:spPr>
          <a:xfrm>
            <a:off x="609601" y="834390"/>
            <a:ext cx="8534399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7: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Hiển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thị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kết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quả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đánh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giá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mô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hình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với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các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độ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đo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khác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nhau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7646C9-2C3F-4729-B62E-437A65083F08}"/>
              </a:ext>
            </a:extLst>
          </p:cNvPr>
          <p:cNvSpPr txBox="1"/>
          <p:nvPr/>
        </p:nvSpPr>
        <p:spPr>
          <a:xfrm>
            <a:off x="1417983" y="1600200"/>
            <a:ext cx="7726017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xây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Machine Learning ta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đánh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thế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khả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-"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Đối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bài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toán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Classification, ta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accuracy score, confusion matrix, ROC curve, Area Under the Curve, Precision and Recall, F1 score, Top R error.</a:t>
            </a:r>
          </a:p>
        </p:txBody>
      </p:sp>
    </p:spTree>
    <p:extLst>
      <p:ext uri="{BB962C8B-B14F-4D97-AF65-F5344CB8AC3E}">
        <p14:creationId xmlns:p14="http://schemas.microsoft.com/office/powerpoint/2010/main" val="3101690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2D6119-203F-4BD5-8096-BE7F238521A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0" y="68580"/>
            <a:ext cx="2476500" cy="153162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D9BA37-DE94-4332-8773-9F4B3CFB69A9}"/>
              </a:ext>
            </a:extLst>
          </p:cNvPr>
          <p:cNvSpPr txBox="1"/>
          <p:nvPr/>
        </p:nvSpPr>
        <p:spPr>
          <a:xfrm>
            <a:off x="834887" y="834390"/>
            <a:ext cx="7898295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4: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Xây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dựng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mô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hình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phân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loại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sử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dụng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các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thuật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toán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kNN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, NB, SVM, Logistic Regression,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MultiLayer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Perceptron</a:t>
            </a:r>
          </a:p>
        </p:txBody>
      </p:sp>
      <p:pic>
        <p:nvPicPr>
          <p:cNvPr id="16386" name="Picture 2" descr="Không có mô tả.">
            <a:extLst>
              <a:ext uri="{FF2B5EF4-FFF2-40B4-BE49-F238E27FC236}">
                <a16:creationId xmlns:a16="http://schemas.microsoft.com/office/drawing/2014/main" id="{0CE039D5-5D3D-4593-9638-A33183A7F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98" y="2106476"/>
            <a:ext cx="9582150" cy="1017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532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Không có mô tả.">
            <a:extLst>
              <a:ext uri="{FF2B5EF4-FFF2-40B4-BE49-F238E27FC236}">
                <a16:creationId xmlns:a16="http://schemas.microsoft.com/office/drawing/2014/main" id="{C4892E29-C6EF-4D19-8E01-748475BEA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595" y="1789043"/>
            <a:ext cx="7030990" cy="3884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87544F-9014-4F05-94FF-0BD3237E4DDB}"/>
              </a:ext>
            </a:extLst>
          </p:cNvPr>
          <p:cNvSpPr txBox="1"/>
          <p:nvPr/>
        </p:nvSpPr>
        <p:spPr>
          <a:xfrm>
            <a:off x="967409" y="1175302"/>
            <a:ext cx="609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4 &amp; 7</a:t>
            </a:r>
          </a:p>
        </p:txBody>
      </p:sp>
    </p:spTree>
    <p:extLst>
      <p:ext uri="{BB962C8B-B14F-4D97-AF65-F5344CB8AC3E}">
        <p14:creationId xmlns:p14="http://schemas.microsoft.com/office/powerpoint/2010/main" val="250953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87544F-9014-4F05-94FF-0BD3237E4DDB}"/>
              </a:ext>
            </a:extLst>
          </p:cNvPr>
          <p:cNvSpPr txBox="1"/>
          <p:nvPr/>
        </p:nvSpPr>
        <p:spPr>
          <a:xfrm>
            <a:off x="967409" y="1175302"/>
            <a:ext cx="609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4 &amp; 7</a:t>
            </a:r>
          </a:p>
        </p:txBody>
      </p:sp>
      <p:pic>
        <p:nvPicPr>
          <p:cNvPr id="21506" name="Picture 2" descr="Không có mô tả.">
            <a:extLst>
              <a:ext uri="{FF2B5EF4-FFF2-40B4-BE49-F238E27FC236}">
                <a16:creationId xmlns:a16="http://schemas.microsoft.com/office/drawing/2014/main" id="{F731ED2D-3B8D-4966-84A3-58B3004F5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621" y="1838325"/>
            <a:ext cx="9108757" cy="406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67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87544F-9014-4F05-94FF-0BD3237E4DDB}"/>
              </a:ext>
            </a:extLst>
          </p:cNvPr>
          <p:cNvSpPr txBox="1"/>
          <p:nvPr/>
        </p:nvSpPr>
        <p:spPr>
          <a:xfrm>
            <a:off x="967409" y="1175302"/>
            <a:ext cx="609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4 &amp; 7</a:t>
            </a:r>
          </a:p>
        </p:txBody>
      </p:sp>
      <p:pic>
        <p:nvPicPr>
          <p:cNvPr id="20482" name="Picture 2" descr="Không có mô tả.">
            <a:extLst>
              <a:ext uri="{FF2B5EF4-FFF2-40B4-BE49-F238E27FC236}">
                <a16:creationId xmlns:a16="http://schemas.microsoft.com/office/drawing/2014/main" id="{A597A7A8-84E7-4505-BA56-D5257A375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044" y="1926248"/>
            <a:ext cx="9593911" cy="4076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261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87544F-9014-4F05-94FF-0BD3237E4DDB}"/>
              </a:ext>
            </a:extLst>
          </p:cNvPr>
          <p:cNvSpPr txBox="1"/>
          <p:nvPr/>
        </p:nvSpPr>
        <p:spPr>
          <a:xfrm>
            <a:off x="967409" y="1175302"/>
            <a:ext cx="609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4 &amp; 7</a:t>
            </a:r>
          </a:p>
        </p:txBody>
      </p:sp>
      <p:pic>
        <p:nvPicPr>
          <p:cNvPr id="19458" name="Picture 2" descr="Không có mô tả.">
            <a:extLst>
              <a:ext uri="{FF2B5EF4-FFF2-40B4-BE49-F238E27FC236}">
                <a16:creationId xmlns:a16="http://schemas.microsoft.com/office/drawing/2014/main" id="{DAAE732F-B2D2-4D0A-BF2D-F2FA5AB92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984" y="1865567"/>
            <a:ext cx="9404031" cy="421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78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87544F-9014-4F05-94FF-0BD3237E4DDB}"/>
              </a:ext>
            </a:extLst>
          </p:cNvPr>
          <p:cNvSpPr txBox="1"/>
          <p:nvPr/>
        </p:nvSpPr>
        <p:spPr>
          <a:xfrm>
            <a:off x="967409" y="1175302"/>
            <a:ext cx="609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4 &amp; 7</a:t>
            </a:r>
          </a:p>
        </p:txBody>
      </p:sp>
      <p:pic>
        <p:nvPicPr>
          <p:cNvPr id="18434" name="Picture 2" descr="Không có mô tả.">
            <a:extLst>
              <a:ext uri="{FF2B5EF4-FFF2-40B4-BE49-F238E27FC236}">
                <a16:creationId xmlns:a16="http://schemas.microsoft.com/office/drawing/2014/main" id="{0BC2B931-27D4-4349-AB00-5F8CFEB76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190" y="1636967"/>
            <a:ext cx="9513570" cy="4372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8477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2D6119-203F-4BD5-8096-BE7F238521A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0" y="68580"/>
            <a:ext cx="2476500" cy="153162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D9BA37-DE94-4332-8773-9F4B3CFB69A9}"/>
              </a:ext>
            </a:extLst>
          </p:cNvPr>
          <p:cNvSpPr txBox="1"/>
          <p:nvPr/>
        </p:nvSpPr>
        <p:spPr>
          <a:xfrm>
            <a:off x="755374" y="681046"/>
            <a:ext cx="7938052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5: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Vẽ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biểu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đồ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thể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hiện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kết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quả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training,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sử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dụng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early stopping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và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validation dataset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4A962F-EC76-483F-8509-82210D4A9F13}"/>
              </a:ext>
            </a:extLst>
          </p:cNvPr>
          <p:cNvSpPr txBox="1"/>
          <p:nvPr/>
        </p:nvSpPr>
        <p:spPr>
          <a:xfrm>
            <a:off x="1075082" y="1815011"/>
            <a:ext cx="8640418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Validation dataset: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trích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training set.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Chúng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đánh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Val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khác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test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Val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xây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còn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test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thì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 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-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Early stopping: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bài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toán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Machine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Learining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loss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vòng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lặp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lên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early stopping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dừng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thuật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toán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trước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loss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quá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nhỉ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dẫn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overfitting 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80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2D6119-203F-4BD5-8096-BE7F238521A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0" y="68580"/>
            <a:ext cx="2476500" cy="153162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D9BA37-DE94-4332-8773-9F4B3CFB69A9}"/>
              </a:ext>
            </a:extLst>
          </p:cNvPr>
          <p:cNvSpPr txBox="1"/>
          <p:nvPr/>
        </p:nvSpPr>
        <p:spPr>
          <a:xfrm>
            <a:off x="675861" y="623386"/>
            <a:ext cx="8362122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6: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Huấn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luyện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mô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hình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có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sử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dụng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tham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số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batch size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và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epoch number.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C68C20-54FF-4EB5-86B9-C40203BCDB16}"/>
              </a:ext>
            </a:extLst>
          </p:cNvPr>
          <p:cNvSpPr txBox="1"/>
          <p:nvPr/>
        </p:nvSpPr>
        <p:spPr>
          <a:xfrm>
            <a:off x="1378226" y="1600200"/>
            <a:ext cx="7659757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Epoch: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tất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lần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quá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chia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nhỏ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những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batch.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-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Batch size: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 batch. 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91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75E626-780B-4F15-86D3-FBD1C92D7D47}"/>
              </a:ext>
            </a:extLst>
          </p:cNvPr>
          <p:cNvSpPr txBox="1"/>
          <p:nvPr/>
        </p:nvSpPr>
        <p:spPr>
          <a:xfrm>
            <a:off x="853108" y="845820"/>
            <a:ext cx="66221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 5 &amp; 6</a:t>
            </a:r>
          </a:p>
        </p:txBody>
      </p:sp>
      <p:pic>
        <p:nvPicPr>
          <p:cNvPr id="22530" name="Picture 2" descr="Không có mô tả.">
            <a:extLst>
              <a:ext uri="{FF2B5EF4-FFF2-40B4-BE49-F238E27FC236}">
                <a16:creationId xmlns:a16="http://schemas.microsoft.com/office/drawing/2014/main" id="{28BE396F-013F-462B-9E8C-45235024D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1173" y="1902618"/>
            <a:ext cx="7885747" cy="337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560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75E626-780B-4F15-86D3-FBD1C92D7D47}"/>
              </a:ext>
            </a:extLst>
          </p:cNvPr>
          <p:cNvSpPr txBox="1"/>
          <p:nvPr/>
        </p:nvSpPr>
        <p:spPr>
          <a:xfrm>
            <a:off x="853108" y="845820"/>
            <a:ext cx="66221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 5 &amp; 6</a:t>
            </a:r>
          </a:p>
        </p:txBody>
      </p:sp>
      <p:pic>
        <p:nvPicPr>
          <p:cNvPr id="22532" name="Picture 4" descr="Không có mô tả.">
            <a:extLst>
              <a:ext uri="{FF2B5EF4-FFF2-40B4-BE49-F238E27FC236}">
                <a16:creationId xmlns:a16="http://schemas.microsoft.com/office/drawing/2014/main" id="{475B8D35-CF51-4494-926D-EACF6FBE1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695" y="1952328"/>
            <a:ext cx="10214610" cy="336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53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75E626-780B-4F15-86D3-FBD1C92D7D47}"/>
              </a:ext>
            </a:extLst>
          </p:cNvPr>
          <p:cNvSpPr txBox="1"/>
          <p:nvPr/>
        </p:nvSpPr>
        <p:spPr>
          <a:xfrm>
            <a:off x="853108" y="845820"/>
            <a:ext cx="66221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 5 &amp; 6</a:t>
            </a:r>
          </a:p>
        </p:txBody>
      </p:sp>
      <p:pic>
        <p:nvPicPr>
          <p:cNvPr id="24578" name="Picture 2" descr="Không có mô tả.">
            <a:extLst>
              <a:ext uri="{FF2B5EF4-FFF2-40B4-BE49-F238E27FC236}">
                <a16:creationId xmlns:a16="http://schemas.microsoft.com/office/drawing/2014/main" id="{CD1B2A15-2269-467F-B8EC-E9BAA11F8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829" y="1964109"/>
            <a:ext cx="4656150" cy="342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CD0B56-21D5-482F-A266-D318B0CEBCF9}"/>
              </a:ext>
            </a:extLst>
          </p:cNvPr>
          <p:cNvSpPr txBox="1"/>
          <p:nvPr/>
        </p:nvSpPr>
        <p:spPr>
          <a:xfrm>
            <a:off x="6903720" y="2651760"/>
            <a:ext cx="39547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0" i="1" dirty="0">
                <a:effectLst/>
                <a:latin typeface="Segoe UI Historic" panose="020B0502040204020203" pitchFamily="34" charset="0"/>
              </a:rPr>
              <a:t>Chú thích: Mỗi lần huấn luyện mô hình có thể sẽ có kết quả khác. Kết quả bên dưới là một trong số đó.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243970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2D6119-203F-4BD5-8096-BE7F238521A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0" y="68580"/>
            <a:ext cx="2476500" cy="153162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D9BA37-DE94-4332-8773-9F4B3CFB69A9}"/>
              </a:ext>
            </a:extLst>
          </p:cNvPr>
          <p:cNvSpPr txBox="1"/>
          <p:nvPr/>
        </p:nvSpPr>
        <p:spPr>
          <a:xfrm>
            <a:off x="844495" y="891540"/>
            <a:ext cx="7938052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8: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Trính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bày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về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vấn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đề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overfiting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và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có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ví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dụ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minh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hoạ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7A353E-F7CF-4A6F-B458-D610F0F81932}"/>
              </a:ext>
            </a:extLst>
          </p:cNvPr>
          <p:cNvSpPr txBox="1"/>
          <p:nvPr/>
        </p:nvSpPr>
        <p:spPr>
          <a:xfrm>
            <a:off x="1378226" y="1596887"/>
            <a:ext cx="7699513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-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Overfitting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tượng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xây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Machine learning.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nghĩa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model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tất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đều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bao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gồm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nhiễu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bất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thường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luật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quá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fit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thì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nó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gây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tác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600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Không có mô tả.">
            <a:extLst>
              <a:ext uri="{FF2B5EF4-FFF2-40B4-BE49-F238E27FC236}">
                <a16:creationId xmlns:a16="http://schemas.microsoft.com/office/drawing/2014/main" id="{432CF668-D81A-4B2B-9DF2-1F4C8432A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969" y="1855470"/>
            <a:ext cx="7026592" cy="379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72D90D-3530-49F9-9585-927E929666D4}"/>
              </a:ext>
            </a:extLst>
          </p:cNvPr>
          <p:cNvSpPr txBox="1"/>
          <p:nvPr/>
        </p:nvSpPr>
        <p:spPr>
          <a:xfrm>
            <a:off x="844495" y="891540"/>
            <a:ext cx="7938052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8: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Trính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bày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về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vấn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đề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overfiting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và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có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ví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dụ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minh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hoạ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490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78E256-4C45-4370-A427-55414D3C8F06}"/>
              </a:ext>
            </a:extLst>
          </p:cNvPr>
          <p:cNvSpPr txBox="1"/>
          <p:nvPr/>
        </p:nvSpPr>
        <p:spPr>
          <a:xfrm>
            <a:off x="844495" y="891540"/>
            <a:ext cx="7938052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Yêu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cầu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8: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Trính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bày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về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vấn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đề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overfiting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và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có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ví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dụ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minh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2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hoạ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.</a:t>
            </a:r>
          </a:p>
        </p:txBody>
      </p:sp>
      <p:pic>
        <p:nvPicPr>
          <p:cNvPr id="26626" name="Picture 2" descr="Không có mô tả.">
            <a:extLst>
              <a:ext uri="{FF2B5EF4-FFF2-40B4-BE49-F238E27FC236}">
                <a16:creationId xmlns:a16="http://schemas.microsoft.com/office/drawing/2014/main" id="{B81A7E4E-EFB0-4277-91A6-C4F793C00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793" y="1967864"/>
            <a:ext cx="5569267" cy="3697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124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140</TotalTime>
  <Words>1226</Words>
  <Application>Microsoft Office PowerPoint</Application>
  <PresentationFormat>Widescreen</PresentationFormat>
  <Paragraphs>54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Calibri</vt:lpstr>
      <vt:lpstr>Calibri Light</vt:lpstr>
      <vt:lpstr>DengXian</vt:lpstr>
      <vt:lpstr>DengXian Light</vt:lpstr>
      <vt:lpstr>Segoe UI Historic</vt:lpstr>
      <vt:lpstr>Times New Roman</vt:lpstr>
      <vt:lpstr>Retrospect</vt:lpstr>
      <vt:lpstr>DỰ ÁN CUỐI KÌ Môn : Nhập Môn Học Máy </vt:lpstr>
      <vt:lpstr>PowerPoint Presentation</vt:lpstr>
      <vt:lpstr>PowerPoint Presentation</vt:lpstr>
      <vt:lpstr>Yêu cầu 1: Chuẩn hoá dữ liệu, chọn bài toán với dữ liệu có kiểu numeric và categorial (nominal)</vt:lpstr>
      <vt:lpstr>Yêu cầu 1: Chuẩn hoá dữ liệu, chọn bài toán với dữ liệu có kiểu numeric và categorial (nominal)</vt:lpstr>
      <vt:lpstr>Yêu cầu 2: Xử lý với dữ liệu không cân bằng (unbalanced), tức là trong dữ liệu có loại (nhãn) có ít ví dụ huấn luyện so với dữ liệu thuộc các nhãn khác.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tập giữa kỳ Môn : Nhập môn Trí tuệ nhân tạo</dc:title>
  <dc:creator>Bội Bội</dc:creator>
  <cp:lastModifiedBy>Phạm Vũ Long Khải</cp:lastModifiedBy>
  <cp:revision>16</cp:revision>
  <dcterms:created xsi:type="dcterms:W3CDTF">2020-10-25T15:19:09Z</dcterms:created>
  <dcterms:modified xsi:type="dcterms:W3CDTF">2020-11-22T16:24:30Z</dcterms:modified>
</cp:coreProperties>
</file>